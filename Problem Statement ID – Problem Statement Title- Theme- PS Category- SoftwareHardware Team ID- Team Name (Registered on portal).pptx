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Garamond Bold" charset="1" panose="02020804030307010803"/>
      <p:regular r:id="rId14"/>
    </p:embeddedFont>
    <p:embeddedFont>
      <p:font typeface="Arial Bold" charset="1" panose="020B0704020202020204"/>
      <p:regular r:id="rId15"/>
    </p:embeddedFont>
    <p:embeddedFont>
      <p:font typeface="Arimo Bold" charset="1" panose="020B0704020202020204"/>
      <p:regular r:id="rId16"/>
    </p:embeddedFont>
    <p:embeddedFont>
      <p:font typeface="Arimo" charset="1" panose="020B0604020202020204"/>
      <p:regular r:id="rId17"/>
    </p:embeddedFont>
    <p:embeddedFont>
      <p:font typeface="Calibri (MS)" charset="1" panose="020F0502020204030204"/>
      <p:regular r:id="rId18"/>
    </p:embeddedFont>
    <p:embeddedFont>
      <p:font typeface="Arial" charset="1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8.png" Type="http://schemas.openxmlformats.org/officeDocument/2006/relationships/image"/><Relationship Id="rId5" Target="../embeddings/oleObject2.bin" Type="http://schemas.openxmlformats.org/officeDocument/2006/relationships/oleObject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10.png" Type="http://schemas.openxmlformats.org/officeDocument/2006/relationships/image"/><Relationship Id="rId5" Target="../embeddings/oleObject3.bin" Type="http://schemas.openxmlformats.org/officeDocument/2006/relationships/oleObject"/><Relationship Id="rId6" Target="../media/image11.png" Type="http://schemas.openxmlformats.org/officeDocument/2006/relationships/image"/><Relationship Id="rId7" Target="../embeddings/oleObject4.bin" Type="http://schemas.openxmlformats.org/officeDocument/2006/relationships/oleObject"/><Relationship Id="rId8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13.png" Type="http://schemas.openxmlformats.org/officeDocument/2006/relationships/image"/><Relationship Id="rId5" Target="../embeddings/oleObject5.bin" Type="http://schemas.openxmlformats.org/officeDocument/2006/relationships/oleObject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16299" y="1525848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76055" y="3378510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2258797"/>
            <a:ext cx="11705231" cy="796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–SIH26039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Title-Al-Powered Underground Mine Safety, Monitoring and Rescue System.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Theme-Smart Automation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Category-Hardware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3516" y="-290951"/>
            <a:ext cx="16459200" cy="1437833"/>
            <a:chOff x="0" y="0"/>
            <a:chExt cx="21945600" cy="19171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917111"/>
            </a:xfrm>
            <a:custGeom>
              <a:avLst/>
              <a:gdLst/>
              <a:ahLst/>
              <a:cxnLst/>
              <a:rect r="r" b="b" t="t" l="l"/>
              <a:pathLst>
                <a:path h="191711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17111"/>
                  </a:lnTo>
                  <a:lnTo>
                    <a:pt x="0" y="191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428" r="0" b="-18267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1945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919"/>
                </a:lnSpc>
              </a:pPr>
            </a:p>
            <a:p>
              <a:pPr algn="ctr">
                <a:lnSpc>
                  <a:spcPts val="4919"/>
                </a:lnSpc>
              </a:pPr>
              <a:r>
                <a:rPr lang="en-US" b="true" sz="4099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 integrated, resilient safety &amp; rescue system for mines 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756" y="174450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411239" y="1557049"/>
            <a:ext cx="11076938" cy="4689982"/>
          </a:xfrm>
          <a:custGeom>
            <a:avLst/>
            <a:gdLst/>
            <a:ahLst/>
            <a:cxnLst/>
            <a:rect r="r" b="b" t="t" l="l"/>
            <a:pathLst>
              <a:path h="4689982" w="11076938">
                <a:moveTo>
                  <a:pt x="0" y="0"/>
                </a:moveTo>
                <a:lnTo>
                  <a:pt x="11076937" y="0"/>
                </a:lnTo>
                <a:lnTo>
                  <a:pt x="11076937" y="4689982"/>
                </a:lnTo>
                <a:lnTo>
                  <a:pt x="0" y="4689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543" r="0" b="-9309"/>
            </a:stretch>
          </a:blipFill>
        </p:spPr>
      </p:sp>
      <p:graphicFrame>
        <p:nvGraphicFramePr>
          <p:cNvPr name="Object 19" id="19"/>
          <p:cNvGraphicFramePr/>
          <p:nvPr/>
        </p:nvGraphicFramePr>
        <p:xfrm>
          <a:off x="11778301" y="1595752"/>
          <a:ext cx="3771900" cy="4400550"/>
        </p:xfrm>
        <a:graphic>
          <a:graphicData uri="http://schemas.openxmlformats.org/presentationml/2006/ole">
            <p:oleObj imgW="4648200" imgH="52705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233516" y="6823472"/>
            <a:ext cx="3586505" cy="2536469"/>
            <a:chOff x="0" y="0"/>
            <a:chExt cx="944594" cy="6680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4594" cy="668041"/>
            </a:xfrm>
            <a:custGeom>
              <a:avLst/>
              <a:gdLst/>
              <a:ahLst/>
              <a:cxnLst/>
              <a:rect r="r" b="b" t="t" l="l"/>
              <a:pathLst>
                <a:path h="668041" w="944594">
                  <a:moveTo>
                    <a:pt x="0" y="0"/>
                  </a:moveTo>
                  <a:lnTo>
                    <a:pt x="944594" y="0"/>
                  </a:lnTo>
                  <a:lnTo>
                    <a:pt x="944594" y="668041"/>
                  </a:lnTo>
                  <a:lnTo>
                    <a:pt x="0" y="668041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44594" cy="687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0756" y="6237506"/>
            <a:ext cx="1151567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5"/>
              </a:lnSpc>
              <a:spcBef>
                <a:spcPct val="0"/>
              </a:spcBef>
            </a:pPr>
            <a:r>
              <a:rPr lang="en-US" b="true" sz="282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MAKES OUR</a:t>
            </a:r>
            <a:r>
              <a:rPr lang="en-US" b="true" sz="282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APPROACH DIFFERENT?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069778" y="6823472"/>
            <a:ext cx="3582136" cy="2536469"/>
            <a:chOff x="0" y="0"/>
            <a:chExt cx="943443" cy="66804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3443" cy="668041"/>
            </a:xfrm>
            <a:custGeom>
              <a:avLst/>
              <a:gdLst/>
              <a:ahLst/>
              <a:cxnLst/>
              <a:rect r="r" b="b" t="t" l="l"/>
              <a:pathLst>
                <a:path h="668041" w="943443">
                  <a:moveTo>
                    <a:pt x="0" y="0"/>
                  </a:moveTo>
                  <a:lnTo>
                    <a:pt x="943443" y="0"/>
                  </a:lnTo>
                  <a:lnTo>
                    <a:pt x="943443" y="668041"/>
                  </a:lnTo>
                  <a:lnTo>
                    <a:pt x="0" y="668041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943443" cy="687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906040" y="6823472"/>
            <a:ext cx="3582136" cy="2536469"/>
            <a:chOff x="0" y="0"/>
            <a:chExt cx="943443" cy="66804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43443" cy="668041"/>
            </a:xfrm>
            <a:custGeom>
              <a:avLst/>
              <a:gdLst/>
              <a:ahLst/>
              <a:cxnLst/>
              <a:rect r="r" b="b" t="t" l="l"/>
              <a:pathLst>
                <a:path h="668041" w="943443">
                  <a:moveTo>
                    <a:pt x="0" y="0"/>
                  </a:moveTo>
                  <a:lnTo>
                    <a:pt x="943443" y="0"/>
                  </a:lnTo>
                  <a:lnTo>
                    <a:pt x="943443" y="668041"/>
                  </a:lnTo>
                  <a:lnTo>
                    <a:pt x="0" y="668041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943443" cy="687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411239" y="6893719"/>
            <a:ext cx="3408783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</a:t>
            </a:r>
            <a:r>
              <a:rPr lang="en-US" sz="1700" u="sng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OMMUNICATION-AWARE RESCUE ROUTING</a:t>
            </a:r>
          </a:p>
          <a:p>
            <a:pPr algn="l">
              <a:lnSpc>
                <a:spcPts val="2040"/>
              </a:lnSpc>
            </a:pPr>
          </a:p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 don't choose a r</a:t>
            </a: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oute based on distance alone.</a:t>
            </a:r>
          </a:p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system considers hazard risk + distance + communication reliability to guide rescue through the safest available connected path.</a:t>
            </a:r>
          </a:p>
          <a:p>
            <a:pPr algn="l">
              <a:lnSpc>
                <a:spcPts val="1920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4211508" y="6924894"/>
            <a:ext cx="3408783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u="sng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AI THAT CANNOT OVERRIDE SAFETY</a:t>
            </a:r>
          </a:p>
          <a:p>
            <a:pPr algn="l">
              <a:lnSpc>
                <a:spcPts val="1920"/>
              </a:lnSpc>
            </a:pPr>
          </a:p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</a:t>
            </a: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assists decisions — i</a:t>
            </a: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 does not control safety.</a:t>
            </a:r>
          </a:p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 detects trends and provides recommendations, while deterministic safety rules remain the final constraint.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079394" y="6924894"/>
            <a:ext cx="3408783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u="sng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GRACEFUL DEGRADATION</a:t>
            </a:r>
          </a:p>
          <a:p>
            <a:pPr algn="l">
              <a:lnSpc>
                <a:spcPts val="2040"/>
              </a:lnSpc>
            </a:pPr>
          </a:p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Saf</a:t>
            </a: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ety doesn't dep</a:t>
            </a: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end on every component working perfectly.</a:t>
            </a:r>
          </a:p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Sensor, communication, rover, backend or AI failures trigger fallback mechanisms instead of assuming conditions are safe.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aphicFrame>
        <p:nvGraphicFramePr>
          <p:cNvPr name="Object 18" id="18"/>
          <p:cNvGraphicFramePr/>
          <p:nvPr/>
        </p:nvGraphicFramePr>
        <p:xfrm>
          <a:off x="12171712" y="1595752"/>
          <a:ext cx="3771900" cy="7543800"/>
        </p:xfrm>
        <a:graphic>
          <a:graphicData uri="http://schemas.openxmlformats.org/presentationml/2006/ole">
            <p:oleObj imgW="5270500" imgH="90424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9" id="19"/>
          <p:cNvSpPr/>
          <p:nvPr/>
        </p:nvSpPr>
        <p:spPr>
          <a:xfrm flipH="false" flipV="false" rot="0">
            <a:off x="286016" y="1705526"/>
            <a:ext cx="11743499" cy="7828999"/>
          </a:xfrm>
          <a:custGeom>
            <a:avLst/>
            <a:gdLst/>
            <a:ahLst/>
            <a:cxnLst/>
            <a:rect r="r" b="b" t="t" l="l"/>
            <a:pathLst>
              <a:path h="7828999" w="11743499">
                <a:moveTo>
                  <a:pt x="0" y="0"/>
                </a:moveTo>
                <a:lnTo>
                  <a:pt x="11743499" y="0"/>
                </a:lnTo>
                <a:lnTo>
                  <a:pt x="11743499" y="7828999"/>
                </a:lnTo>
                <a:lnTo>
                  <a:pt x="0" y="78289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-5825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aphicFrame>
        <p:nvGraphicFramePr>
          <p:cNvPr name="Object 18" id="18"/>
          <p:cNvGraphicFramePr/>
          <p:nvPr/>
        </p:nvGraphicFramePr>
        <p:xfrm>
          <a:off x="9039225" y="2022276"/>
          <a:ext cx="3771900" cy="5029200"/>
        </p:xfrm>
        <a:graphic>
          <a:graphicData uri="http://schemas.openxmlformats.org/presentationml/2006/ole">
            <p:oleObj imgW="4775200" imgH="6032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9" id="19"/>
          <p:cNvGraphicFramePr/>
          <p:nvPr/>
        </p:nvGraphicFramePr>
        <p:xfrm>
          <a:off x="475612" y="2022276"/>
          <a:ext cx="5657850" cy="2514600"/>
        </p:xfrm>
        <a:graphic>
          <a:graphicData uri="http://schemas.openxmlformats.org/presentationml/2006/ole">
            <p:oleObj imgW="6781800" imgH="36449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20" id="20"/>
          <p:cNvSpPr/>
          <p:nvPr/>
        </p:nvSpPr>
        <p:spPr>
          <a:xfrm flipH="false" flipV="false" rot="0">
            <a:off x="338136" y="5724326"/>
            <a:ext cx="8464133" cy="3620162"/>
          </a:xfrm>
          <a:custGeom>
            <a:avLst/>
            <a:gdLst/>
            <a:ahLst/>
            <a:cxnLst/>
            <a:rect r="r" b="b" t="t" l="l"/>
            <a:pathLst>
              <a:path h="3620162" w="8464133">
                <a:moveTo>
                  <a:pt x="0" y="0"/>
                </a:moveTo>
                <a:lnTo>
                  <a:pt x="8464133" y="0"/>
                </a:lnTo>
                <a:lnTo>
                  <a:pt x="8464133" y="3620162"/>
                </a:lnTo>
                <a:lnTo>
                  <a:pt x="0" y="36201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3983" r="0" b="-6618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102341" y="1289806"/>
            <a:ext cx="11713601" cy="59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8"/>
              </a:lnSpc>
              <a:spcBef>
                <a:spcPct val="0"/>
              </a:spcBef>
            </a:pPr>
            <a:r>
              <a:rPr lang="en-US" b="true" sz="369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Practical pr</a:t>
            </a:r>
            <a:r>
              <a:rPr lang="en-US" b="true" sz="369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ototype | Controlled scope | Risk-aware design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aphicFrame>
        <p:nvGraphicFramePr>
          <p:cNvPr name="Object 15" id="15"/>
          <p:cNvGraphicFramePr/>
          <p:nvPr/>
        </p:nvGraphicFramePr>
        <p:xfrm>
          <a:off x="9956439" y="2538124"/>
          <a:ext cx="3771900" cy="4400550"/>
        </p:xfrm>
        <a:graphic>
          <a:graphicData uri="http://schemas.openxmlformats.org/presentationml/2006/ole">
            <p:oleObj imgW="4648200" imgH="5270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9956439" y="1653249"/>
            <a:ext cx="8112322" cy="565989"/>
            <a:chOff x="0" y="0"/>
            <a:chExt cx="2136579" cy="1490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6579" cy="149067"/>
            </a:xfrm>
            <a:custGeom>
              <a:avLst/>
              <a:gdLst/>
              <a:ahLst/>
              <a:cxnLst/>
              <a:rect r="r" b="b" t="t" l="l"/>
              <a:pathLst>
                <a:path h="149067" w="2136579">
                  <a:moveTo>
                    <a:pt x="0" y="0"/>
                  </a:moveTo>
                  <a:lnTo>
                    <a:pt x="2136579" y="0"/>
                  </a:lnTo>
                  <a:lnTo>
                    <a:pt x="2136579" y="149067"/>
                  </a:lnTo>
                  <a:lnTo>
                    <a:pt x="0" y="149067"/>
                  </a:lnTo>
                  <a:close/>
                </a:path>
              </a:pathLst>
            </a:custGeom>
            <a:solidFill>
              <a:srgbClr val="DCE6F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136579" cy="168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82425" y="1419382"/>
            <a:ext cx="8292875" cy="3724118"/>
          </a:xfrm>
          <a:custGeom>
            <a:avLst/>
            <a:gdLst/>
            <a:ahLst/>
            <a:cxnLst/>
            <a:rect r="r" b="b" t="t" l="l"/>
            <a:pathLst>
              <a:path h="3724118" w="8292875">
                <a:moveTo>
                  <a:pt x="0" y="0"/>
                </a:moveTo>
                <a:lnTo>
                  <a:pt x="8292875" y="0"/>
                </a:lnTo>
                <a:lnTo>
                  <a:pt x="8292875" y="3724118"/>
                </a:lnTo>
                <a:lnTo>
                  <a:pt x="0" y="3724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3476" r="0" b="-91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630527" y="404151"/>
            <a:ext cx="1915887" cy="1249099"/>
            <a:chOff x="0" y="0"/>
            <a:chExt cx="2554516" cy="1665465"/>
          </a:xfrm>
        </p:grpSpPr>
        <p:sp>
          <p:nvSpPr>
            <p:cNvPr name="Freeform 21" id="21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940489" y="5306851"/>
            <a:ext cx="8576748" cy="4061941"/>
          </a:xfrm>
          <a:custGeom>
            <a:avLst/>
            <a:gdLst/>
            <a:ahLst/>
            <a:cxnLst/>
            <a:rect r="r" b="b" t="t" l="l"/>
            <a:pathLst>
              <a:path h="4061941" w="8576748">
                <a:moveTo>
                  <a:pt x="0" y="0"/>
                </a:moveTo>
                <a:lnTo>
                  <a:pt x="8576748" y="0"/>
                </a:lnTo>
                <a:lnTo>
                  <a:pt x="8576748" y="4061941"/>
                </a:lnTo>
                <a:lnTo>
                  <a:pt x="0" y="40619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155" t="-11765" r="-1680" b="-10705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858568" y="1766599"/>
            <a:ext cx="828420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FROM UNCERTAINTY → INFORMED RESPONSE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5840" y="4219565"/>
            <a:ext cx="13895070" cy="71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8575" y="2657970"/>
            <a:ext cx="18345150" cy="6535950"/>
            <a:chOff x="0" y="0"/>
            <a:chExt cx="24460200" cy="87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60200" cy="8714613"/>
            </a:xfrm>
            <a:custGeom>
              <a:avLst/>
              <a:gdLst/>
              <a:ahLst/>
              <a:cxnLst/>
              <a:rect r="r" b="b" t="t" l="l"/>
              <a:pathLst>
                <a:path h="8714613" w="24460200">
                  <a:moveTo>
                    <a:pt x="1452499" y="0"/>
                  </a:moveTo>
                  <a:lnTo>
                    <a:pt x="24460200" y="0"/>
                  </a:lnTo>
                  <a:lnTo>
                    <a:pt x="24460200" y="7262114"/>
                  </a:lnTo>
                  <a:cubicBezTo>
                    <a:pt x="24460200" y="8064246"/>
                    <a:pt x="23809961" y="8714613"/>
                    <a:pt x="23007701" y="8714613"/>
                  </a:cubicBezTo>
                  <a:lnTo>
                    <a:pt x="0" y="8714613"/>
                  </a:lnTo>
                  <a:lnTo>
                    <a:pt x="0" y="1452499"/>
                  </a:lnTo>
                  <a:cubicBezTo>
                    <a:pt x="0" y="650240"/>
                    <a:pt x="650240" y="0"/>
                    <a:pt x="1452499" y="0"/>
                  </a:cubicBezTo>
                  <a:close/>
                </a:path>
              </a:pathLst>
            </a:custGeom>
            <a:solidFill>
              <a:srgbClr val="DCE6F2"/>
            </a:solidFill>
            <a:ln w="5715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43176" y="2928404"/>
            <a:ext cx="17464249" cy="600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six </a:t>
            </a: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(6). 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slide)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should be unique and novel.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can only use provided template for making the PPT without changing the idea details pointers (mentioned in previous slides).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need to save the file in PDF and upload the same on portal. No PPT, Word Doc or any other format will be supported.</a:t>
            </a:r>
          </a:p>
          <a:p>
            <a:pPr algn="just" marL="488632" indent="-244316" lvl="1">
              <a:lnSpc>
                <a:spcPts val="2916"/>
              </a:lnSpc>
            </a:pPr>
          </a:p>
          <a:p>
            <a:pPr algn="just" marL="488632" indent="-244316" lvl="1">
              <a:lnSpc>
                <a:spcPts val="2916"/>
              </a:lnSpc>
            </a:pP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 when you upload the details of your idea on SIH portal.</a:t>
            </a:r>
          </a:p>
          <a:p>
            <a:pPr algn="just" marL="488632" indent="-244316" lvl="1">
              <a:lnSpc>
                <a:spcPts val="291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181501" y="177746"/>
            <a:ext cx="12432925" cy="90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4953" y="1828095"/>
            <a:ext cx="14153607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DAHVeAeYRGc</dc:identifier>
  <dcterms:modified xsi:type="dcterms:W3CDTF">2011-08-01T06:04:30Z</dcterms:modified>
  <cp:revision>1</cp:revision>
  <dc:title>Problem Statement ID – Problem Statement Title- Theme- PS Category- Software/Hardware Team ID- Team Name (Registered on portal)</dc:title>
</cp:coreProperties>
</file>